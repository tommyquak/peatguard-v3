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PeatGuard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Satellite-Based Peatland Subsidence Monitoring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Carbon Credit MRV in West Kalimantan, Indonesia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3657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Tommy Quak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University of Singapore, Department of Geography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Tropical Peatland Carbon Crisis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Indonesia's 20.6M hectares of peatland store 88.6 Gt carbon -- equivalent to a decade of global fossil fuel emissions (Page et al., 2011)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Drainage for oil palm has converted 5.1M hectares, releasing 0.9-1.4 Gt CO2/year (Hooijer et al., 2010)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Drainage triggers irreversible peat oxidation and compaction, manifesting as measurable land surface subsidence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Subsidence rates: 40-60 mm/yr in first 5 years, declining to 20-30 mm/yr over decades (Hooijer et al., 2012)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credit market opportunity: USD 5.78B for peatland rewetting under Verra VCS VM0007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How to measure, report, and verify peat degradation at landscape scale for carbon credits?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InSAR? Rationale for Sensor Selection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Sentinel-1 C-band SAR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4846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satellite technique measuring mm-level ground displacement from space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All-weather, day-night: critical for tropical Kalimantan (200+ cloud days/yr)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and open data (Copernicus Programme) -- ensures reproducibility and continuity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12-day repeat cycle provides sufficient temporal sampling for SBAS time-series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Subsidence IS the physical signal of peat carbon loss -- direct measurement, not a proxy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optical / hyperspectral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0" y="1737360"/>
            <a:ext cx="4846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sensors (Sentinel-2, Landsat) cannot measure ground displacement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NDVI detects vegetation stress but not the subsidence that drives it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Hyperspectral (PRISMA, EnMAP) identifies surface chemistry, not vertical motion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cover in Kalimantan blocks optical sensors &gt;200 days/yr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data used for validation (Hansen GFC, NDVI) not primary measurement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Architecture: Cloud-Native InSAR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5-stage pipeline deployed on Google Cloud Platform (Cloud Run Jobs):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Stage 1: Data Ingestion -- 14 Sentinel-1 SLC + 14 GRD scenes from ASF DAAC (Jan-Dec 2024)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Stage 2: InSAR Processing -- ISCE2 topsApp, 29 SBAS pairs, SNAPHU MCF unwrapping, ionospheric correction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Stage 3: Time-Series Analysis -- MintPy SBAS inversion, ERA5 tropospheric correction, MintPy geocoding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Stage 4: Backscatter Processing -- GRD calibration, Lee Sigma speckle filter, terrain correction, temporal median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Stage 5: Analysis -- Canal detection, water masking, classification, risk scoring, carbon loss, Hansen integration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containerised (Docker), automated monthly (Cloud Scheduler + Workflows), open-source on GitHub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Scientific Decisions and Rationale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Subswath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IW2 (not IW3)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IW3 gave 45% pair failure; IW2 provides full AOI burst coverage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ASF burst analysis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Multilooking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az x 9 range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Reduces phase noise 5.2x while preserving canal-scale features (~42x21m)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for S-1 IW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Unwrapping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SNAPHU MCF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cost flow handles smooth deformation fields in low-coherence tropics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Chen &amp; Zebker 2002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Atmos. correction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ERA5 via PyAPS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Removes 5-15 mm/yr tropospheric bias; two-phase reference selection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Jolivet et al. 2014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LOS-to-vertical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cos(37) factor 1.25x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Peat subsidence is purely vertical; Sundaland horiz. motion &lt;1 mm/yr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Simons et al. 2007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Coherence mask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threshold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Excludes noisy forest pixels; 0.3 too permissive for tropical C-band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Hoyt et al. 2020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 detection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10th pctl threshold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Captures water-filled canals via specular reflection; 9.1% coverage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Validated vs OSM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weights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 prox + 0.55 sub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measurement (subsidence) weighted higher than proxy (canal distance)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Hooijer et al. 2012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Carbon factor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tCO2/ha/yr/mm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Conservative estimate from Hooijer; some studies report 0.7-1.0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Hooijer et al. 2012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ERA5 Tropospheric Correction: Why It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Tropical water vapour causes 5-20 mm equivalent phase delay per acquisition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correction: velocity bias of 5-15 mm/yr (up to 50% of the subsidence signal)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Two-phase ERA5 reference selection strategy: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Phase 1: Run MintPy WITHOUT ERA5 to select reference point on uncorrected data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Phase 2: Lock reference point, re-run WITH ERA5 atmospheric correction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two phases? ERA5 changes the phase pattern, which can shift the auto-selected reference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to subsiding ground, introducing a +35 mm/yr false positive bias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ERA5 correction removes atmospheric noise while preserving the correct velocity datum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15/15 acquisition dates corrected using ECMWF ERA5 pressure-level reanalysis (Hersbach et al., 2020)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Subsidence and Carbon Loss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vertical velocity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 mm/yr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Consistent with Hooijer (2012): 20-50 mm/yr for drained peat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Severe subsidence (&lt;-50)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 of area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Heavily drained peat near primary canals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drying (-50 to -20)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 of area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Ongoing drainage impact, significant CO2 loss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drying (-20 to -5)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 of area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but measurable carbon loss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 (-5 to +5)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4% of area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natural variability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 network coverage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Detected via VV backscatter thresholding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Water bodies detected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Kapuas River and ponds (VV dB &lt; -18)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risk 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Moderate-to-elevated across drained landscape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Peat extent coverage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~60% of AOI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WRI/GFW Indonesia peatland dataset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Loss Estimation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Conversion: CO2 loss (tCO2/ha/yr) = |subsidence velocity (mm/yr)| x 0.5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Hooijer et al. (2012) empirical relationship for Indonesian tropical peat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factor (0.5); literature range is 0.5-1.0 depending on drainage age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filters applied before carbon estimation: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Coherence &gt; 0.5 (excludes unreliable pixels under forest canopy)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Water mask applied (excludes rivers and ponds)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- 5x5 median filter (reduces pixel-level noise)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Carbon-loss-backed visualization thresholds: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0-1 tCO2/ha/yr: Natural variability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1-5: Drainage-affected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5-10: Active degradation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10-20: Severe degradation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&gt;20: Critical emission hotspot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Budget: Quantified Uncertainty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Source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Magnitude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Tropospheric delay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5-15 mm/yr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ERA5 correction (PyAPS)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Ionospheric delay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2-5 mm/yr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Split-spectrum (ISCE2)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point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3-8 mm/yr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Two-phase selection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Temporal decorrelation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2-10 mm/yr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Coherence mask (0.5)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Partially mitigated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Unwrapping errors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0-28 mm/yr per event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SNAPHU MCF + SBAS network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LOS-to-vertical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&lt;3 mm/yr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Constant incidence (37 deg)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Georeferencing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MintPy geocoding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Seasonal aliasing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5-15 mm/yr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1-year span (limitation)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yet corrected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~8-12 mm/yr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30-46% relative uncertainty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Consistency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4846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vs canal distance: r = -0.40 (p &lt; 0.001) -- subsidence correlates with drainage proximity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 vs VV backscatter: r = 0.27 (p &lt; 0.001) -- cleared areas show more subsidence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velocity (-26 mm/yr) matches published rates for drained Indonesian peat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distribution is physically plausible (47% subsiding, 4% stable)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Datasets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0" y="1737360"/>
            <a:ext cx="4846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Hansen GFC: clearing-year cohort analysis validates temporal subsidence pattern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waterways: precision/recall against community-mapped canal features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 peat extent: subsidence concentrated within mapped peatland boundaries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No ground truth (GPS, levelling, piezometers) available in study area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C-band cannot penetrate forest canopy: ~45% of pixels are low-coherence (masked at 0.5)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This means we cannot measure subsidence under intact peat forest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L-band (ALOS-2 or NISAR) would address this gap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Single-year temporal coverage (2024): seasonal aliasing adds 5-15 mm/yr uncertainty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Extending to 2+ years enables seasonal decomposition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in-situ ground truth: all validation is against remote sensing datasets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Planned: collaboration with Tanjungpura University for piezometer data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Peat depth is estimated (dome model), not measured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CIFOR peat map provides extent; depth classification is approximate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loss factor (0.5 tCO2/ha/yr per mm/yr) is an empirical average, not site-specific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Development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Immediate (1-2 weeks)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4846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to 2+ years of data (2023-2024) for seasonal decomposition and noise reduction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for ALOS-2 L-band data (JAXA EORC, free for NUS students)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Sentinel-2 NDVI composite for land cover classification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unsupervised K-means clustering for degradation zone mapping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mapping: per-pixel quality indicator from coherence + uncertainty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Medium-term (1-3 months)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0" y="1737360"/>
            <a:ext cx="4846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ALOS-2 L-band InSAR for forest-penetrating subsidence (fills 45% canopy gap)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Multi-sensor C+L band fusion: coherence-weighted velocity combining both wavelengths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NISAR integration when data becomes available (free, open access)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U-Net canal segmentation trained on Google Earth + OSM labels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restoration priority model (Random Forest with expert labels from field visits)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 monitoring for canal blocking effectiveness (Verra MRV requirement)</a:t>
            </a:r>
            <a:endParaRPr lang="en-US" sz="1400" dirty="0"/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dashboard deployment (TiTiler + Leaflet for live monitoring)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Learning: Where It Helps vs Where It Doesn't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Benefit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K-means degradation zones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Discovers natural spatial patterns, no labels needed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to implement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-- immediate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U-Net canal segmentation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Learns grid patterns, reduces false positives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training labels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-- 2-3 weeks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 restoration priority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Multivariate feature fusion with expert knowledge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field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-- with field visit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InSAR velocity estimation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Cannot improve physics-based measurement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-- use MintPy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Atmospheric correction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Cannot improve ERA5 physics-based approach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-- use ERA5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Subsidence classification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Would just re-learn the Hooijer thresholds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-- use thresholds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7432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InSAR Processing: ISCE2 (JPL) -- topsApp for Sentinel-1 TOPS, stripmapApp for NISAR L-band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Time-Series: MintPy (University of Miami) -- SBAS inversion, ERA5 via PyAPS, geocoding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Unwrapping: SNAPHU (Stanford) -- Minimum Cost Flow algorithm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Geospatial: GDAL, rasterio, geopandas, scikit-image, scipy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Cloud: Google Cloud Platform -- Cloud Run Jobs, Cloud Storage, Cloud Build, Workflows, Scheduler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Container: Docker (mambaforge + conda-forge for reproducible geospatial environment)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Config: Pydantic v2 models + YAML, environment variable overrides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ASF DAAC (Sentinel-1), CDS (ERA5), Hansen GFC, WRI peatlands, OSM waterways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Cloud-Optimised GeoTIFFs (COG) compatible with ArcGIS Pro, QGIS, web tile servers</a:t>
            </a: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source: github.com/tommyquak/peatguard-v3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PeatGuard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3657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monitoring for peatland restoration and carbon credit MRV
</a:t>
            </a:r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numbers:
</a:t>
            </a:r>
            <a:pPr indent="0" marL="0">
              <a:buNone/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47.5% of study area shows active subsidence
</a:t>
            </a:r>
            <a:pPr indent="0" marL="0">
              <a:buNone/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vertical subsidence: -26 mm/yr (ERA5-corrected)
</a:t>
            </a:r>
            <a:pPr indent="0" marL="0">
              <a:buNone/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 canal network detected from SAR backscatter
</a:t>
            </a:r>
            <a:pPr indent="0" marL="0">
              <a:buNone/>
            </a:pPr>
            <a:r>
              <a:rPr lang="en-US" sz="16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GeoTIFF products deployed to cloud in &lt;1 hour
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Tommy Quak | NUS Geography | github.com/tommyquak/peatguard-v3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PeatGuard: Satellite-Based Peatland Monitoring</dc:title>
  <dc:subject>PptxGenJS Presentation</dc:subject>
  <dc:creator>Tommy Quak</dc:creator>
  <cp:lastModifiedBy>Tommy Quak</cp:lastModifiedBy>
  <cp:revision>1</cp:revision>
  <dcterms:created xsi:type="dcterms:W3CDTF">2026-04-03T09:06:51Z</dcterms:created>
  <dcterms:modified xsi:type="dcterms:W3CDTF">2026-04-03T09:06:51Z</dcterms:modified>
</cp:coreProperties>
</file>